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3fe9a2fa7b4c3c" /><Relationship Type="http://schemas.openxmlformats.org/officeDocument/2006/relationships/extended-properties" Target="/docProps/app.xml" Id="R63483452a797413b" /><Relationship Type="http://schemas.openxmlformats.org/officeDocument/2006/relationships/officeDocument" Target="/ppt/presentation.xml" Id="R7f946093ed3348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53dc9755c24583"/>
  </p:sldMasterIdLst>
  <p:notesMasterIdLst>
    <p:notesMasterId xmlns:r="http://schemas.openxmlformats.org/officeDocument/2006/relationships" r:id="R8cc38686f1b347c9"/>
  </p:notesMasterIdLst>
  <p:sldIdLst>
    <p:sldId xmlns:r="http://schemas.openxmlformats.org/officeDocument/2006/relationships" id="256" r:id="R5ca65a47b88e489a"/>
    <p:sldId xmlns:r="http://schemas.openxmlformats.org/officeDocument/2006/relationships" id="257" r:id="Rd71b61faa2444f24"/>
    <p:sldId xmlns:r="http://schemas.openxmlformats.org/officeDocument/2006/relationships" id="258" r:id="R93c105b6355d473e"/>
    <p:sldId xmlns:r="http://schemas.openxmlformats.org/officeDocument/2006/relationships" id="259" r:id="R6c03285f48de496b"/>
    <p:sldId xmlns:r="http://schemas.openxmlformats.org/officeDocument/2006/relationships" id="260" r:id="R9a9bfd5666e2417f"/>
    <p:sldId xmlns:r="http://schemas.openxmlformats.org/officeDocument/2006/relationships" id="261" r:id="R43db86c2cb24446e"/>
    <p:sldId xmlns:r="http://schemas.openxmlformats.org/officeDocument/2006/relationships" id="262" r:id="Rc2b0367128b74b31"/>
    <p:sldId xmlns:r="http://schemas.openxmlformats.org/officeDocument/2006/relationships" id="263" r:id="R554803b1e8914b6b"/>
    <p:sldId xmlns:r="http://schemas.openxmlformats.org/officeDocument/2006/relationships" id="264" r:id="R9810a090227a4ab2"/>
    <p:sldId xmlns:r="http://schemas.openxmlformats.org/officeDocument/2006/relationships" id="265" r:id="Re57271359c074b41"/>
    <p:sldId xmlns:r="http://schemas.openxmlformats.org/officeDocument/2006/relationships" id="266" r:id="R9afd93f2c8034d1b"/>
    <p:sldId xmlns:r="http://schemas.openxmlformats.org/officeDocument/2006/relationships" id="267" r:id="Rd586578a4e2e462e"/>
    <p:sldId xmlns:r="http://schemas.openxmlformats.org/officeDocument/2006/relationships" id="268" r:id="R510e0d530afa4afb"/>
    <p:sldId xmlns:r="http://schemas.openxmlformats.org/officeDocument/2006/relationships" id="269" r:id="R85e483c5210543e4"/>
    <p:sldId xmlns:r="http://schemas.openxmlformats.org/officeDocument/2006/relationships" id="270" r:id="R077772cdebb94cd8"/>
    <p:sldId xmlns:r="http://schemas.openxmlformats.org/officeDocument/2006/relationships" id="271" r:id="R6dbe8755602d45f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3dc9755c24583" /><Relationship Type="http://schemas.openxmlformats.org/officeDocument/2006/relationships/theme" Target="/ppt/theme/theme1.xml" Id="R045917b9c25847eb" /><Relationship Type="http://schemas.openxmlformats.org/officeDocument/2006/relationships/notesMaster" Target="/ppt/notesMasters/notesMaster1.xml" Id="R8cc38686f1b347c9" /><Relationship Type="http://schemas.openxmlformats.org/officeDocument/2006/relationships/presProps" Target="/ppt/presProps.xml" Id="R275c6eb7aeac4f8b" /><Relationship Type="http://schemas.openxmlformats.org/officeDocument/2006/relationships/viewProps" Target="/ppt/viewProps.xml" Id="R81ee8077e3114757" /><Relationship Type="http://schemas.openxmlformats.org/officeDocument/2006/relationships/tableStyles" Target="/ppt/tableStyles.xml" Id="R2f5fa69a29fa45b5" /><Relationship Type="http://schemas.openxmlformats.org/officeDocument/2006/relationships/slide" Target="/ppt/slides/slide1.xml" Id="R5ca65a47b88e489a" /><Relationship Type="http://schemas.openxmlformats.org/officeDocument/2006/relationships/slide" Target="/ppt/slides/slide2.xml" Id="Rd71b61faa2444f24" /><Relationship Type="http://schemas.openxmlformats.org/officeDocument/2006/relationships/slide" Target="/ppt/slides/slide3.xml" Id="R93c105b6355d473e" /><Relationship Type="http://schemas.openxmlformats.org/officeDocument/2006/relationships/slide" Target="/ppt/slides/slide4.xml" Id="R6c03285f48de496b" /><Relationship Type="http://schemas.openxmlformats.org/officeDocument/2006/relationships/slide" Target="/ppt/slides/slide5.xml" Id="R9a9bfd5666e2417f" /><Relationship Type="http://schemas.openxmlformats.org/officeDocument/2006/relationships/slide" Target="/ppt/slides/slide6.xml" Id="R43db86c2cb24446e" /><Relationship Type="http://schemas.openxmlformats.org/officeDocument/2006/relationships/slide" Target="/ppt/slides/slide7.xml" Id="Rc2b0367128b74b31" /><Relationship Type="http://schemas.openxmlformats.org/officeDocument/2006/relationships/slide" Target="/ppt/slides/slide8.xml" Id="R554803b1e8914b6b" /><Relationship Type="http://schemas.openxmlformats.org/officeDocument/2006/relationships/slide" Target="/ppt/slides/slide9.xml" Id="R9810a090227a4ab2" /><Relationship Type="http://schemas.openxmlformats.org/officeDocument/2006/relationships/slide" Target="/ppt/slides/slide10.xml" Id="Re57271359c074b41" /><Relationship Type="http://schemas.openxmlformats.org/officeDocument/2006/relationships/slide" Target="/ppt/slides/slide11.xml" Id="R9afd93f2c8034d1b" /><Relationship Type="http://schemas.openxmlformats.org/officeDocument/2006/relationships/slide" Target="/ppt/slides/slide12.xml" Id="Rd586578a4e2e462e" /><Relationship Type="http://schemas.openxmlformats.org/officeDocument/2006/relationships/slide" Target="/ppt/slides/slide13.xml" Id="R510e0d530afa4afb" /><Relationship Type="http://schemas.openxmlformats.org/officeDocument/2006/relationships/slide" Target="/ppt/slides/slide14.xml" Id="R85e483c5210543e4" /><Relationship Type="http://schemas.openxmlformats.org/officeDocument/2006/relationships/slide" Target="/ppt/slides/slide15.xml" Id="R077772cdebb94cd8" /><Relationship Type="http://schemas.openxmlformats.org/officeDocument/2006/relationships/slide" Target="/ppt/slides/slide16.xml" Id="R6dbe8755602d45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7404e2d0d9a43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5e95a86d2747c9" /><Relationship Type="http://schemas.openxmlformats.org/officeDocument/2006/relationships/notesMaster" Target="/ppt/notesMasters/notesMaster1.xml" Id="R869fdc5f881b40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5602a431e64239" /><Relationship Type="http://schemas.openxmlformats.org/officeDocument/2006/relationships/notesMaster" Target="/ppt/notesMasters/notesMaster1.xml" Id="R23066372059a42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e0e6de6a5a4c17" /><Relationship Type="http://schemas.openxmlformats.org/officeDocument/2006/relationships/notesMaster" Target="/ppt/notesMasters/notesMaster1.xml" Id="R5b1928a8fd044f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d011e3c1764660" /><Relationship Type="http://schemas.openxmlformats.org/officeDocument/2006/relationships/notesMaster" Target="/ppt/notesMasters/notesMaster1.xml" Id="R6ab3dfa3649e4f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e5d64928fc40e5" /><Relationship Type="http://schemas.openxmlformats.org/officeDocument/2006/relationships/notesMaster" Target="/ppt/notesMasters/notesMaster1.xml" Id="Rfb3c2cda286947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8dafd1f6c24a94" /><Relationship Type="http://schemas.openxmlformats.org/officeDocument/2006/relationships/notesMaster" Target="/ppt/notesMasters/notesMaster1.xml" Id="Rf11b75d75e874a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3b3e3ce5a74dda" /><Relationship Type="http://schemas.openxmlformats.org/officeDocument/2006/relationships/notesMaster" Target="/ppt/notesMasters/notesMaster1.xml" Id="R8a81039a04dc4a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cb761cadb84046" /><Relationship Type="http://schemas.openxmlformats.org/officeDocument/2006/relationships/notesMaster" Target="/ppt/notesMasters/notesMaster1.xml" Id="R51eca7dc7c064a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8ee2d92acc48af" /><Relationship Type="http://schemas.openxmlformats.org/officeDocument/2006/relationships/notesMaster" Target="/ppt/notesMasters/notesMaster1.xml" Id="R903ab6fcb20a4a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c92afdfe3c4818" /><Relationship Type="http://schemas.openxmlformats.org/officeDocument/2006/relationships/notesMaster" Target="/ppt/notesMasters/notesMaster1.xml" Id="Rddbcf4c758b445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ad49074cd34cff" /><Relationship Type="http://schemas.openxmlformats.org/officeDocument/2006/relationships/notesMaster" Target="/ppt/notesMasters/notesMaster1.xml" Id="R513c757f562a43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fec46150ff45dd" /><Relationship Type="http://schemas.openxmlformats.org/officeDocument/2006/relationships/notesMaster" Target="/ppt/notesMasters/notesMaster1.xml" Id="R39c4ccb7837747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59536446d7452b" /><Relationship Type="http://schemas.openxmlformats.org/officeDocument/2006/relationships/notesMaster" Target="/ppt/notesMasters/notesMaster1.xml" Id="R6fc2d01a3add46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86c5d6234d406d" /><Relationship Type="http://schemas.openxmlformats.org/officeDocument/2006/relationships/notesMaster" Target="/ppt/notesMasters/notesMaster1.xml" Id="Rae0635144f914a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61bf108a6c4775" /><Relationship Type="http://schemas.openxmlformats.org/officeDocument/2006/relationships/notesMaster" Target="/ppt/notesMasters/notesMaster1.xml" Id="R6dbe5564188c45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9b3558faec4a20" /><Relationship Type="http://schemas.openxmlformats.org/officeDocument/2006/relationships/notesMaster" Target="/ppt/notesMasters/notesMaster1.xml" Id="Ra0888e5a5a794e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a10757edff43c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7581954a6a0404d" /><Relationship Type="http://schemas.openxmlformats.org/officeDocument/2006/relationships/slideLayout" Target="/ppt/slideLayouts/slideLayout2.xml" Id="R3fd7f21e269147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d7f21e269147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87847ae5064957" /><Relationship Type="http://schemas.openxmlformats.org/officeDocument/2006/relationships/notesSlide" Target="/ppt/notesSlides/notesSlide1.xml" Id="Rdad30565c9424c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18dafcbc534ea6" /><Relationship Type="http://schemas.openxmlformats.org/officeDocument/2006/relationships/notesSlide" Target="/ppt/notesSlides/notesSlide2.xml" Id="R481fc62b249941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f133f7ece54b6f" /><Relationship Type="http://schemas.openxmlformats.org/officeDocument/2006/relationships/notesSlide" Target="/ppt/notesSlides/notesSlide3.xml" Id="R77c10c7953314b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04a06ebfd04a82" /><Relationship Type="http://schemas.openxmlformats.org/officeDocument/2006/relationships/notesSlide" Target="/ppt/notesSlides/notesSlide4.xml" Id="R33d4dd0cef894a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e368621c38497b" /><Relationship Type="http://schemas.openxmlformats.org/officeDocument/2006/relationships/notesSlide" Target="/ppt/notesSlides/notesSlide5.xml" Id="R68d5a334c8a141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fb990bfa184be5" /><Relationship Type="http://schemas.openxmlformats.org/officeDocument/2006/relationships/notesSlide" Target="/ppt/notesSlides/notesSlide6.xml" Id="R308dd0cccbfa43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5f4b37b4614ba8" /><Relationship Type="http://schemas.openxmlformats.org/officeDocument/2006/relationships/notesSlide" Target="/ppt/notesSlides/notesSlide7.xml" Id="R2e7ef6a6e8b543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5278bf4ba3476d" /><Relationship Type="http://schemas.openxmlformats.org/officeDocument/2006/relationships/notesSlide" Target="/ppt/notesSlides/notesSlide8.xml" Id="R4e9ec9331bb64a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4ec725ffaf4b9e" /><Relationship Type="http://schemas.openxmlformats.org/officeDocument/2006/relationships/notesSlide" Target="/ppt/notesSlides/notesSlide9.xml" Id="R6707d48336254a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f694692e254fbb" /><Relationship Type="http://schemas.openxmlformats.org/officeDocument/2006/relationships/notesSlide" Target="/ppt/notesSlides/notesSlide10.xml" Id="R7327410cba464f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2b4fd8ad8e4420" /><Relationship Type="http://schemas.openxmlformats.org/officeDocument/2006/relationships/notesSlide" Target="/ppt/notesSlides/notesSlide11.xml" Id="Rf8d451b0b9854e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df4c27d9fb461a" /><Relationship Type="http://schemas.openxmlformats.org/officeDocument/2006/relationships/notesSlide" Target="/ppt/notesSlides/notesSlide12.xml" Id="R38c514ed2c5040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4016a6231b45e7" /><Relationship Type="http://schemas.openxmlformats.org/officeDocument/2006/relationships/notesSlide" Target="/ppt/notesSlides/notesSlide13.xml" Id="Raabb62679e5e42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13663873c147e3" /><Relationship Type="http://schemas.openxmlformats.org/officeDocument/2006/relationships/notesSlide" Target="/ppt/notesSlides/notesSlide14.xml" Id="R45db0b61435148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8602e425304fe9" /><Relationship Type="http://schemas.openxmlformats.org/officeDocument/2006/relationships/notesSlide" Target="/ppt/notesSlides/notesSlide15.xml" Id="R7e568c8f4f0a446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158a5c28cf4bcf" /><Relationship Type="http://schemas.openxmlformats.org/officeDocument/2006/relationships/notesSlide" Target="/ppt/notesSlides/notesSlide16.xml" Id="R8dfdd9be1e1347b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EFF3A8-1124-407B-8188-91487069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C0905-5501-438D-B1FA-112DE603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36F08-0733-423E-B5A0-097B7A88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579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8F730-EB88-4EC2-A667-9345EC25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Red-Link Group | Initial user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9463D-1878-463E-ACC6-E1710A72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35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352D"/>
                </a:solidFill>
                <a:latin typeface="Aptos"/>
                <a:ea typeface="Aptos"/>
                <a:cs typeface="Aptos"/>
              </a:rPr>
              <a:t>0-5分 | 前提説明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B0899-BBC1-4FD5-A102-4368635F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今日の前提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C7D62-A5B3-4BD8-93BA-6FF16DD0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保護者から、率直な反応を聞くためのユーザーテスト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59C67-F5D3-47DF-8D52-0A3F33B3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048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0C143-26B9-4EB6-B59C-CFE75A70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46672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今回は日本人保護者の方に、2つの視点でお聞きします。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1. ご自身の家庭だったらどう感じるか</a:t>
            </a:r>
          </a:p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2. 日本語で受験情報を取りにくい家庭だったらどう感じるか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良い評価ではなく、率直な違和感を知ることが目的です。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4D5AD-72FF-43E6-A019-32AF54CD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410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A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FC1E4-A1CF-4A5B-BE7D-14457856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62100"/>
            <a:ext cx="506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352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7352D"/>
                </a:solidFill>
                <a:latin typeface="Yu Gothic"/>
                <a:ea typeface="Yu Gothic"/>
                <a:cs typeface="Yu Gothic"/>
              </a:rPr>
              <a:t>率直に教えてほしいこと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FEE78-8CFB-4AA4-A84B-6A5F1B44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49911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わかりにくい点</a:t>
            </a:r>
          </a:p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不要だと思う点</a:t>
            </a:r>
          </a:p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高いと感じる点</a:t>
            </a:r>
          </a:p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実際には使わなさそうな理由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E01C1-4967-4F82-87A7-81A5A476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A"/>
          </a:solidFill>
          <a:ln xmlns:a="http://schemas.openxmlformats.org/drawingml/2006/main" w="9525">
            <a:solidFill>
              <a:srgbClr val="E8C9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3A2DD-B815-4F92-B5DC-D3357D3C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rPr>
              <a:t>聞くこと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52F35-7249-449B-8BA5-199F7E3B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57800"/>
            <a:ext cx="9353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・お子さまの学年を教えてください。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・中学受験、高校受験、大学受験への関心はありますか。</a:t>
            </a:r>
          </a:p>
        </p:txBody>
      </p:sp>
    </p:spTree>
    <p:extLst>
      <p:ext uri="{BB962C8B-B14F-4D97-AF65-F5344CB8AC3E}">
        <p14:creationId xmlns:p14="http://schemas.microsoft.com/office/powerpoint/2010/main" val="19313056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442810-02DD-4F64-B9B7-B168EFFB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9A01C-CD08-4771-ABF6-A6A98373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D15A4-CDD7-4F49-B80A-AD9ECE23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579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07FA4-D606-4551-B2FF-A58C249C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Red-Link Group | Initial user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2FECE-58B3-4DDD-B023-5CDCFEDC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35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352D"/>
                </a:solidFill>
                <a:latin typeface="Aptos"/>
                <a:ea typeface="Aptos"/>
                <a:cs typeface="Aptos"/>
              </a:rPr>
              <a:t>5-15分 | 現在の学習環境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0BAE9-4018-46B1-A29A-62A1FDF1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現在の学習環境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A58B3-D351-4B29-9B87-7CD096F6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対面塾・家庭教師・オンライン授業の利用状況を分けて確認する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9F6B1-1FBF-4E0F-99ED-D653B307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1F4BE-03A9-4E36-A0F9-EC2D4266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項目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61230-EC43-46C5-A46A-43A860A8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28750"/>
            <a:ext cx="811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390C7-345B-4F40-8774-426D3F61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95425"/>
            <a:ext cx="796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確認したいこと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8883F-7769-4E01-AC6C-D9BEF15C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7051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60C87-37BA-424A-BCC4-E1E2567F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0225"/>
            <a:ext cx="2552700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対面の塾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19C75-2651-4784-89D9-80941431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52600"/>
            <a:ext cx="81153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8DE27-57C1-47F8-8AD0-AADAA4E4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0225"/>
            <a:ext cx="7962900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進学塾、補習塾、個別指導塾などに通っているか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F6C5E-DB0D-4A5F-A9CE-99A3C05C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7430"/>
            <a:ext cx="27051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BE0606-4C49-48C0-A1B9-82ABE971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5055"/>
            <a:ext cx="2552700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家庭教師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05141-410C-45EA-AA62-EEEF4E5B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97430"/>
            <a:ext cx="81153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FAD77-F907-4D4B-93DC-6F4120CB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45055"/>
            <a:ext cx="7962900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対面またはオンラインの家庭教師を雇っているか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60ABAF-2848-4872-8029-FF16B9E6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2260"/>
            <a:ext cx="27051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024ED0-32A3-4C5B-8BC8-AC2A4B5E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9885"/>
            <a:ext cx="2552700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オンライン授業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9001BD-BB59-4D3C-8943-D8D1F61F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42260"/>
            <a:ext cx="81153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8EBE5-2F73-4E91-8BB6-B5DB78C1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89885"/>
            <a:ext cx="7962900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オンライン塾、オンライン個別指導、映像授業を使ったことがあるか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EDECB6-C8F0-483E-A41F-C6B45706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7090"/>
            <a:ext cx="27051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B6083C-4BAF-488A-A7B5-28813588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4715"/>
            <a:ext cx="2552700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通信教育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4BF0B2-F400-4D3F-B86D-FFD87AB3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87090"/>
            <a:ext cx="81153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072645-6427-4BA3-A361-CD8D85F4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34715"/>
            <a:ext cx="7962900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紙教材、アプリ、タブレット教材を使っているか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38B1EF-72FF-4C2E-9C1B-4A7FD21D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1920"/>
            <a:ext cx="27051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6E110C-8D12-40B5-A489-56A96183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9545"/>
            <a:ext cx="2552700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利用していない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C9CE93-F9E6-46B1-A103-DA3D034F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31920"/>
            <a:ext cx="81153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BAF549-D366-4AA7-AC86-9D3159AF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79545"/>
            <a:ext cx="7962900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まだ塾・家庭教師・オンライン授業を使っていないか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2468EE-119E-4840-A9B9-56424818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A"/>
          </a:solidFill>
          <a:ln xmlns:a="http://schemas.openxmlformats.org/drawingml/2006/main" w="9525">
            <a:solidFill>
              <a:srgbClr val="E8C9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CF1E8A-6CBB-4405-AEE9-3752864C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rPr>
              <a:t>聞くこと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3D5CDE-D781-4F4A-AF3F-20A9D023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57800"/>
            <a:ext cx="9353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・現在、お子さまは対面の塾に通っていますか。</a:t>
            </a:r>
          </a:p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・家庭教師を雇っていますか。対面ですか、オンラインですか。</a:t>
            </a:r>
          </a:p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・オンラインによる授業を受けたことはありますか。</a:t>
            </a:r>
          </a:p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・今の学習サービスを選んだ理由は何ですか。</a:t>
            </a:r>
          </a:p>
        </p:txBody>
      </p:sp>
    </p:spTree>
    <p:extLst>
      <p:ext uri="{BB962C8B-B14F-4D97-AF65-F5344CB8AC3E}">
        <p14:creationId xmlns:p14="http://schemas.microsoft.com/office/powerpoint/2010/main" val="13281196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020A98-9EC2-4AEF-93EC-20AF9054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1B4CB-607A-4580-8EE4-8B2D9283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85FE6-2B5D-42EC-9B9C-BC6F1089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579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FEC0E-BDDB-426C-8EEA-BDF2817D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Red-Link Group | Initial user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665C2-16D4-498B-9198-EE6047F7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35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352D"/>
                </a:solidFill>
                <a:latin typeface="Aptos"/>
                <a:ea typeface="Aptos"/>
                <a:cs typeface="Aptos"/>
              </a:rPr>
              <a:t>5-15分 | 課題確認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587D8-CDB7-4F5C-B074-56C79274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保護者の受験・学習管理の悩み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6BEFE-59AB-44D1-B74A-EBAEE1FB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保護者がどの課題を自分ごととして感じるかを見る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2BFD6-F178-4BD9-B7F4-35336CCF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02971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D0825-6A5E-4639-9830-5ED9BF5E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287731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悩み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D6D60-A16F-4118-AF4D-1285BDB2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1428750"/>
            <a:ext cx="779068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46348-BE46-4D4D-9853-C228AFDA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1495425"/>
            <a:ext cx="76382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2AE0A-79F9-451F-B6D5-CF672221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029712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CE8E6-23EF-41C2-BFFF-9DB5DF0D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0225"/>
            <a:ext cx="2877312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受験制度が複雑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0A6F2-6D63-4305-90E4-5E1676F2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1752600"/>
            <a:ext cx="7790688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6AD8A-E538-4282-9367-32E1A2CE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1800225"/>
            <a:ext cx="7638288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内申、模試、併願、推薦、入試方式がわかりにくい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B2639-6B9F-492E-BCA6-BA508131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7430"/>
            <a:ext cx="3029712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DF287-ADF1-4F56-89E1-4971C152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5055"/>
            <a:ext cx="2877312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塾選びが難しい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EA94D-C672-495F-807B-110E883B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2297430"/>
            <a:ext cx="7790688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642394-D8EE-4622-8B46-1A07D9AB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2345055"/>
            <a:ext cx="7638288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どの塾・先生・コースが合うか判断しづらい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7CF048-344B-4A58-B764-13D6BEE7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2260"/>
            <a:ext cx="3029712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95A060-2CC6-4106-BA3B-31D2E4C9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9885"/>
            <a:ext cx="2877312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学習計画が見えない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27C5DF-0D0B-4108-9528-F290E28C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2842260"/>
            <a:ext cx="7790688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E29F33-204A-4D23-8451-CC716492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2889885"/>
            <a:ext cx="7638288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志望校までに、いつ何をすべきかわからない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12F88A-67EF-48AE-8AAE-96F3579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7090"/>
            <a:ext cx="3029712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67952-42E0-46D1-ACF0-C3D13415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4715"/>
            <a:ext cx="2877312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成績の見方が難しい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DC966D-4B67-4C38-B5A0-7431CB80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3387090"/>
            <a:ext cx="7790688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F281D4-BEC4-43CD-ADCD-3F80FAF2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3434715"/>
            <a:ext cx="7638288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模試、偏差値、内申から次の行動に落とし込めない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71D502-3DB2-4501-BFAE-87C1AD7D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1920"/>
            <a:ext cx="3029712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7944E8-BAB1-434F-BFDF-35849C73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9545"/>
            <a:ext cx="2877312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学習状況が見えない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BE42A2-B113-4053-AA72-C99D4A26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3931920"/>
            <a:ext cx="7790688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128647-24A9-455C-A6AA-717DB83E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3979545"/>
            <a:ext cx="7638288" cy="468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宿題、復習、授業理解度を親が把握しにくい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558F26-F89D-44C2-A964-8D4D79F0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A"/>
          </a:solidFill>
          <a:ln xmlns:a="http://schemas.openxmlformats.org/drawingml/2006/main" w="9525">
            <a:solidFill>
              <a:srgbClr val="E8C9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BA00BC-38DD-4DAA-9C51-75A08907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rPr>
              <a:t>聞くこと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710040-EAA4-4CD5-B3E5-52A30E47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57800"/>
            <a:ext cx="9353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・ご家庭で近い悩みはありますか。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・最近、進路や塾選びで迷ったことはありますか。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・お金を払ってでも解決したい悩みはありますか。</a:t>
            </a:r>
          </a:p>
        </p:txBody>
      </p:sp>
    </p:spTree>
    <p:extLst>
      <p:ext uri="{BB962C8B-B14F-4D97-AF65-F5344CB8AC3E}">
        <p14:creationId xmlns:p14="http://schemas.microsoft.com/office/powerpoint/2010/main" val="20845873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5B2203-5D48-4E81-8C86-FE61C249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1430C-D2B9-40AC-A53E-D9606970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53D8D-F16D-43BC-80ED-9CF30607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579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749ED-0206-4D2F-8829-38100A17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Red-Link Group | Initial user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AAA9D-C63A-43DC-893E-3B6F62DE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35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352D"/>
                </a:solidFill>
                <a:latin typeface="Aptos"/>
                <a:ea typeface="Aptos"/>
                <a:cs typeface="Aptos"/>
              </a:rPr>
              <a:t>5-15分 | オンライン授業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C0DE0-15EA-40B9-825E-84C18F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オンライン授業への印象と不安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718A2-1D98-4880-A087-F7B28B74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オンライン個別指導・オンライン集団指導に対する抵抗感を具体化する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5ECDA-A2A1-415B-9218-DB5199B0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238048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49AAA-115E-49BA-8335-FD668274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22280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不安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D782E-14E9-42D8-9F09-CFFDDB5C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1295400"/>
            <a:ext cx="843991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019C8-3ECD-4EF9-B694-F7E0DE2C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1362075"/>
            <a:ext cx="828751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確認したいこと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3D8F2-5991-425B-8F51-179AED09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380488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42349-347C-416B-927E-7600050D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228088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集中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CA64F-69BE-4478-9422-1D39D299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1619250"/>
            <a:ext cx="8439912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6476D6-87BE-446C-8DA8-F9159C0A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1666875"/>
            <a:ext cx="8287512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子どもが画面越しに集中し続けられるか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BD884-E55E-4316-BDBA-F4B9B57D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8815"/>
            <a:ext cx="2380488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FD005-C05A-414E-948E-AADD27E4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6440"/>
            <a:ext cx="2228088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質問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A1CD6-93E0-42A6-BD47-D9B97DDD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1948815"/>
            <a:ext cx="8439912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8EBFF3-2726-4236-95AB-2FF10765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1996440"/>
            <a:ext cx="8287512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わからないところをその場で質問できるか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89280E-DFA0-4979-AE5B-D6E4A2A6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8380"/>
            <a:ext cx="2380488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96CEFE-CE7E-48FE-8213-6E57E208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6005"/>
            <a:ext cx="2228088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理解度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ADEE16-94DD-47E4-B6AC-3968ECB7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2278380"/>
            <a:ext cx="8439912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7CB8F5-3BE9-490F-A9A7-8EEBA15A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2326005"/>
            <a:ext cx="8287512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先生が子どもの理解度を把握できるか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0166EC-D633-4FAC-A7F3-78D13E2B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7945"/>
            <a:ext cx="2380488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4B872D-4FB7-4023-B084-6D7BEC93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55570"/>
            <a:ext cx="2228088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先生の質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16D99C-04C3-483D-AB8B-E230CBB4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2607945"/>
            <a:ext cx="8439912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F77A9C-2A03-4F2C-B807-551CDBD8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2655570"/>
            <a:ext cx="8287512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教え方、受験経験、指導力に納得できるか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123740-5282-40CB-A319-B0B3153D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7510"/>
            <a:ext cx="2380488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DF3D9D-831C-47DD-966D-20DF88A9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5135"/>
            <a:ext cx="2228088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相性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1EB21A-BC20-48AC-BFA0-E723C0D9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2937510"/>
            <a:ext cx="8439912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0C94D0-9A5D-4A0B-8C13-528E5348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2985135"/>
            <a:ext cx="8287512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先生と子どもの相性が合うか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8B671D-B68C-48EB-B17F-0454ADE7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2380488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6E1201-452C-4CEF-9737-C581DDEB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228088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学習管理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7376BE-7557-405F-A0B9-8333B98B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3267075"/>
            <a:ext cx="8439912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697D79-826D-422B-8401-39155A93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3314700"/>
            <a:ext cx="8287512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宿題・復習・確認テストまで管理されるか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04EDBD-3197-4F9B-9B13-E5DDFA0A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6640"/>
            <a:ext cx="2380488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17FDD2-3787-4055-A45B-18DC7A9F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4265"/>
            <a:ext cx="2228088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保護者への見え方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F848BE-87E2-449F-B606-7D022655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3596640"/>
            <a:ext cx="8439912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F4B423-70EB-494E-81EF-0EB5893C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3644265"/>
            <a:ext cx="8287512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授業内容や進捗が親に伝わるか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AC4444-6616-4EE5-A776-D3FC9C81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6205"/>
            <a:ext cx="2380488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8DAA24-5E92-4A0C-89E3-452F1ED7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3830"/>
            <a:ext cx="2228088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競争感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0E5618-2F81-41DA-A716-F339E9DA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3926205"/>
            <a:ext cx="8439912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4275A8-F564-400E-8EF3-0F92FA47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3973830"/>
            <a:ext cx="8287512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対面塾のような緊張感や競争感があるか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D85028-9C5C-412F-8DED-ED90F7DF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5770"/>
            <a:ext cx="2380488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DB48EE-E036-4BB1-9822-31E7DE84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3395"/>
            <a:ext cx="2228088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料金納得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B35978-CF7E-4BD0-AA10-56176996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4255770"/>
            <a:ext cx="8439912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4B773A-854F-46F0-B4D7-E2AE7CDB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4303395"/>
            <a:ext cx="8287512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対面より安くないと納得しづらいか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C90932-8C86-4B8A-838D-5BB39B4D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5335"/>
            <a:ext cx="2380488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9A0FD7-8334-412E-AEA6-1B9D643E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2960"/>
            <a:ext cx="2228088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機材・環境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502784-2E5A-480A-8563-3843B76D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4585335"/>
            <a:ext cx="8439912" cy="3295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5840BA-F719-4D1E-8604-3ACEE78F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4632960"/>
            <a:ext cx="8287512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1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通信、音声、カメラ、教材共有に不安があるか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11C84A-8339-474B-B33B-4B11E321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A"/>
          </a:solidFill>
          <a:ln xmlns:a="http://schemas.openxmlformats.org/drawingml/2006/main" w="9525">
            <a:solidFill>
              <a:srgbClr val="E8C9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177717-0F9B-4DCB-9A6B-99D121C3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rPr>
              <a:t>聞くこと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A24C12-51B7-48B9-A41F-CE631062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57800"/>
            <a:ext cx="9353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・オンラインによる授業をどう思いますか。</a:t>
            </a:r>
          </a:p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・対面授業と比べて、オンラインの良い点・悪い点は何ですか。</a:t>
            </a:r>
          </a:p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・特に不安なものを3つ選ぶならどれですか。</a:t>
            </a:r>
          </a:p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・その不安は、申し込みをやめる理由になりますか。</a:t>
            </a:r>
          </a:p>
        </p:txBody>
      </p:sp>
    </p:spTree>
    <p:extLst>
      <p:ext uri="{BB962C8B-B14F-4D97-AF65-F5344CB8AC3E}">
        <p14:creationId xmlns:p14="http://schemas.microsoft.com/office/powerpoint/2010/main" val="5044726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B2AEF2-7B74-451E-849F-A41C12F1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46462-2607-4D36-8AA6-32188C19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5199D-5E88-425C-B0A0-740A70E3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579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4CB8C-A997-4671-BE1D-12B501A8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Red-Link Group | Initial user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C8ED0-BD45-4755-8B06-3141E195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35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352D"/>
                </a:solidFill>
                <a:latin typeface="Aptos"/>
                <a:ea typeface="Aptos"/>
                <a:cs typeface="Aptos"/>
              </a:rPr>
              <a:t>5-15分 | 必要機能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3CB6B-8007-4CA7-B3C0-1283E88B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不安を下げる機能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1E9E0-B94A-4FBA-BC9A-7DE33372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オンラインでも申し込みやすくなる条件を特定する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49491-76CF-424F-BFCA-F4EE7EE3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302971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19BBE-3B9B-4E4B-A54D-40CE339E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287731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機能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0F50E-DE0C-4B65-B414-6DDCA3CF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1238250"/>
            <a:ext cx="779068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F7FDC-A55E-4599-9B76-F499DA15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1304925"/>
            <a:ext cx="76382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内容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454DE-6FBE-4924-89BA-DDA48FBE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029712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B2255D-C2CA-45EF-ABAC-A70374F1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2877312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体験授業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7B713-770A-4AE2-9F6B-510B14A3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1562100"/>
            <a:ext cx="7790688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E6C1E-F40F-4C8C-A127-183F13CA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1609725"/>
            <a:ext cx="7638288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本申込前に先生・授業形式を試せる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703534-6D08-4271-B567-67EFD73A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1025"/>
            <a:ext cx="3029712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20253-949E-4D51-A31D-B3E686E5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98650"/>
            <a:ext cx="2877312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先生プロフィール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963F3-656C-4D1C-A1FC-6C1EFCFA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1851025"/>
            <a:ext cx="7790688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BAAA1-2989-4DA5-A8AA-7094C54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1898650"/>
            <a:ext cx="7638288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経歴、受験経験、得意科目、指導実績が見える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EED6BA-B13B-4D61-ABD2-EE508ECD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9950"/>
            <a:ext cx="3029712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6F784-2179-4E20-9DA6-B1679726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7575"/>
            <a:ext cx="2877312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先生変更制度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F9C3AF-8D81-42D4-8503-7A7433F0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2139950"/>
            <a:ext cx="7790688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1AEA5C-C320-46BD-9467-39E11D59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2187575"/>
            <a:ext cx="7638288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相性が合わない場合に変更できる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5C919A-A5D9-44C6-B78D-CD8D0CA5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3029712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7CC3D1-F2A8-46C3-AB57-BB9C47BE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877312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授業後レポート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5787E5-CF6F-47D6-9633-23E738E7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2428875"/>
            <a:ext cx="7790688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F770DB-024F-416C-BA93-69A84AC3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2476500"/>
            <a:ext cx="7638288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学習内容、理解度、宿題、次回までの課題が届く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B91CA0-16A8-4634-B591-9C72C569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7800"/>
            <a:ext cx="3029712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02A156-749C-45E1-B7BF-DB8ED744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5425"/>
            <a:ext cx="2877312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確認テスト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005E10-1B9B-4397-9AC7-6E20ABED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2717800"/>
            <a:ext cx="7790688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01955E-BC11-4F66-91FE-994DAE2E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2765425"/>
            <a:ext cx="7638288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授業後に理解度を測る小テストがある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7EC838-E738-4BFB-8AB1-55E239E3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6725"/>
            <a:ext cx="3029712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94C7FE-B50E-495C-A7C0-F05130D0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4350"/>
            <a:ext cx="2877312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宿題管理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229BF2-EDB3-4517-96F8-A58FB22F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3006725"/>
            <a:ext cx="7790688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D0BC7C-9F8B-4798-AE61-C58EE160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3054350"/>
            <a:ext cx="7638288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宿題の提出・未提出・復習状況を管理する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A49250-8E99-4DA0-8D80-5FE2A32A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3029712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189E63-CEEA-4FFC-89A4-11708192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2877312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録画・アーカイブ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F92211-D960-4A83-B91F-57117656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3295650"/>
            <a:ext cx="7790688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4DF6AE-4129-4F5E-9DA3-D8D661C3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3343275"/>
            <a:ext cx="7638288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授業を後から見返せる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F4324F-BD73-4290-BD13-CBD6BF2B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4575"/>
            <a:ext cx="3029712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57651F-C1AC-4F65-B039-6EBBA97D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2200"/>
            <a:ext cx="2877312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保護者面談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1BFD76-8B41-4B7D-BAAE-5CB6B3FE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3584575"/>
            <a:ext cx="7790688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126CB3-0EA4-4E80-9821-CAFD7D07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3632200"/>
            <a:ext cx="7638288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月1回など、親が先生や運営と話せる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BFB9C5-9E10-4D16-8F77-1AD17F0A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3500"/>
            <a:ext cx="3029712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F78E64-2E4F-4F58-A95D-714CB373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1125"/>
            <a:ext cx="2877312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学習ロードマップ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C07C94-1C7F-4F3D-867E-18662FA3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3873500"/>
            <a:ext cx="7790688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E8CF21-326E-4569-8B6E-262CDB71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3921125"/>
            <a:ext cx="7638288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志望校から逆算した学習計画がある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1EBDC7-EABD-45CC-87FE-C2E68710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3029712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9CB76B-E038-403C-9AAC-4A63231A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2877312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進捗ダッシュボード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9EC52B-9ACA-461E-AC7A-E6FFC372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4162425"/>
            <a:ext cx="7790688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76E1F5-5A33-4ED5-87BD-ECE3D936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4210050"/>
            <a:ext cx="7638288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成績、宿題、テスト結果を一覧で見られる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A5271D4-6606-40C0-A339-8D4801E3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1350"/>
            <a:ext cx="3029712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A6FBF6-6595-43C5-8070-9EF82ACB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8975"/>
            <a:ext cx="2877312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授業中の見守り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C51563B-6F1D-4A84-95F6-DA7B333B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4451350"/>
            <a:ext cx="7790688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9477AB6-C13E-4407-9E38-5FCA853D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4498975"/>
            <a:ext cx="7638288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運営が授業品質や参加状況を確認する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29AA4E-7E5C-4F7F-A45A-96A8407E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0275"/>
            <a:ext cx="3029712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EF04CD-161A-47AD-9485-ECB7F52A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7900"/>
            <a:ext cx="2877312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欠席振替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AEEFEA-B6FD-4B7D-BFF2-E491A679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512" y="4740275"/>
            <a:ext cx="7790688" cy="28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035867D-4CB1-411E-9CAC-BBDB9E8E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4787900"/>
            <a:ext cx="7638288" cy="21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94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欠席時に振替や録画視聴ができる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F7471F0-D5EB-4E53-B4E4-45A94438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A"/>
          </a:solidFill>
          <a:ln xmlns:a="http://schemas.openxmlformats.org/drawingml/2006/main" w="9525">
            <a:solidFill>
              <a:srgbClr val="E8C9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EDA12F-4670-4BBF-B5C7-14D78BC6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rPr>
              <a:t>聞くこと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0F42695-4AF0-4934-924B-B7447009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57800"/>
            <a:ext cx="9353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・これがあれば申し込みやすくなるものを3つ選ぶならどれですか。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・逆に、あまり価値を感じないものはどれですか。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・保護者向けレポートは、どの頻度・内容なら価値がありますか。</a:t>
            </a:r>
          </a:p>
        </p:txBody>
      </p:sp>
    </p:spTree>
    <p:extLst>
      <p:ext uri="{BB962C8B-B14F-4D97-AF65-F5344CB8AC3E}">
        <p14:creationId xmlns:p14="http://schemas.microsoft.com/office/powerpoint/2010/main" val="12264474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8EA5BF-CA4D-435A-B597-0FB9124B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D1383-C5D1-4BAC-BE53-FB2932A8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99675-B7CA-4333-A7B4-9307A676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579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A941E-1EE0-481F-8CA1-05085BF6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Red-Link Group | Initial user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235B1-BE0A-4631-A3F9-A1DCF827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35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352D"/>
                </a:solidFill>
                <a:latin typeface="Aptos"/>
                <a:ea typeface="Aptos"/>
                <a:cs typeface="Aptos"/>
              </a:rPr>
              <a:t>25-35分 | サービス全体像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8F074-633F-40CA-AE0D-C3A1E9D6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Red-Link Group 全体像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D4C65-53A0-4723-979C-FE397155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4つの商品ラインの違いが伝わるかを確認する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58C13-8B1A-4320-A823-777CE976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813304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30668-646D-43C9-B922-8FCB69DF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266090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商品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54C25-D208-46F5-9183-8F633080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1428750"/>
            <a:ext cx="367893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1EC6C-AD1D-4765-84A8-FCB9C4BC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1495425"/>
            <a:ext cx="3526536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一言で言うと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DCE8E-4272-4B15-AEC9-D4BC7A53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428750"/>
            <a:ext cx="43281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6B1F0-AA90-4B32-A5D3-3FE78F61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240" y="1495425"/>
            <a:ext cx="41757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対象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5ADD1-6277-4B62-A3C2-46D6F87E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813304" cy="633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57B9B-0F46-4C90-9960-B8351120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0225"/>
            <a:ext cx="2660904" cy="557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オンライン進路相談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00395-3984-4075-8CD6-469792C7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1752600"/>
            <a:ext cx="3678936" cy="633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9BE730-3B4F-43FA-962F-437C9C31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1800225"/>
            <a:ext cx="3526536" cy="557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保護者向けの受験・進路の相談窓口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C681A-A4F8-49E0-BC7D-4CA65B58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752600"/>
            <a:ext cx="4328160" cy="633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2A9776-7253-450D-9C5A-1AA0CAAC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240" y="1800225"/>
            <a:ext cx="4175760" cy="557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受験制度や塾選びに不安がある保護者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DFC3A4-1F0A-4A86-8B88-951D91A4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6013"/>
            <a:ext cx="2813304" cy="633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AF9AD7-ACCA-47DE-9A73-F9430706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3638"/>
            <a:ext cx="2660904" cy="557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オンライン個別指導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1FBF49-3FC6-4E8C-BAD7-B840E94F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2386013"/>
            <a:ext cx="3678936" cy="633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7B4658-1036-4443-9AF3-41AB50ED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433638"/>
            <a:ext cx="3526536" cy="557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生徒向けの1対1オンライン授業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4EFBBD-CCD0-4247-92B2-9FF6C8B5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386013"/>
            <a:ext cx="4328160" cy="633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3F3A11-05AB-44A1-87B9-97E367BD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240" y="2433638"/>
            <a:ext cx="4175760" cy="557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苦手科目を集中的に伸ばしたい生徒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0B62AC-3F4A-4EB6-BF82-B005B413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2813304" cy="633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A0E512-7020-4678-9D11-E1B54F72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660904" cy="557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オンライン集団指導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ED5FD1-7606-4052-9902-4C02887A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3019425"/>
            <a:ext cx="3678936" cy="633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FD61CF-2B39-41C2-AE86-41129B41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3067050"/>
            <a:ext cx="3526536" cy="557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少人数のオンラインクラス授業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13FBCE-A64F-4188-A694-84A06C8B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019425"/>
            <a:ext cx="4328160" cy="633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728279-81F4-4EA7-A66A-0816381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240" y="3067050"/>
            <a:ext cx="4175760" cy="557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難関校を目指す小中高生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6FDB15-20D9-42A6-97BA-576EBE94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2838"/>
            <a:ext cx="2813304" cy="633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90232F-2684-475D-84CB-066D2BA7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0463"/>
            <a:ext cx="2660904" cy="557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受験情報コミュニティ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985092-0A72-4586-BE91-334B0F4B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3652838"/>
            <a:ext cx="3678936" cy="633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DBC8E2-6652-4E6F-BD66-C381791B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3700463"/>
            <a:ext cx="3526536" cy="557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受験情報を継続的に学べる会員制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C8D952-F77C-435E-AB90-884B23AE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652838"/>
            <a:ext cx="4328160" cy="633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E71436-BE2F-49E7-98BA-B62A7300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240" y="3700463"/>
            <a:ext cx="4175760" cy="557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63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まず情報収集から始めたい保護者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5859BF-16E3-4B9F-ABC3-2E78659A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A"/>
          </a:solidFill>
          <a:ln xmlns:a="http://schemas.openxmlformats.org/drawingml/2006/main" w="9525">
            <a:solidFill>
              <a:srgbClr val="E8C9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D019BF-4C2F-4BE2-B0AE-582AC434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rPr>
              <a:t>聞くこと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FC2A7D-DA28-40A5-928A-DB97F56D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57800"/>
            <a:ext cx="9353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・4つのうち、最初に興味を持つものはどれですか。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・最も不要に感じるものはどれですか。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・4つの違いはわかりやすいですか。</a:t>
            </a:r>
          </a:p>
        </p:txBody>
      </p:sp>
    </p:spTree>
    <p:extLst>
      <p:ext uri="{BB962C8B-B14F-4D97-AF65-F5344CB8AC3E}">
        <p14:creationId xmlns:p14="http://schemas.microsoft.com/office/powerpoint/2010/main" val="18348762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1A7C84-1AEC-49E0-8474-7F9BC9BE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233CC-45D4-43AF-AD44-46AE68BF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FDD22-B751-4B1D-8A14-75F2BDEF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579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C2018-36DC-49BC-A881-B47F5B45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Red-Link Group | Initial user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26F65-1F54-4B75-87EA-62D69EAD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35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352D"/>
                </a:solidFill>
                <a:latin typeface="Aptos"/>
                <a:ea typeface="Aptos"/>
                <a:cs typeface="Aptos"/>
              </a:rPr>
              <a:t>25-35分 | 商品1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B598B-520D-4127-9808-F508A7E9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オンライン進路相談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B1105-0AE5-4C03-82E8-FFB6629A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保護者向けに、受験制度・塾選び・志望校・学習計画を相談する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4C445-C44E-4ACB-BD09-441CAB6C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813304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B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CAAED-30A2-45B6-833A-997BB082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266090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プラン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1E18B-ABDF-443C-A8E0-3A3224D5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1638300"/>
            <a:ext cx="238048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B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BE01B-4BDB-4786-8C92-21AFFA81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1704975"/>
            <a:ext cx="22280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価格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E893D-1D9C-4406-A7CE-3F72EB2A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638300"/>
            <a:ext cx="562660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B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631FF-EA9E-4B84-8A70-7A9F784C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792" y="1704975"/>
            <a:ext cx="547420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F78A9-8F4B-4FC9-A45F-09BEAC3B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81330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F0DFD-3A1F-4D1C-96D0-4B50FDDA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266090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初回進路診断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0B33F0-CEF3-4E57-998B-5B5621E5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1962150"/>
            <a:ext cx="238048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0464B8-7E7E-452D-8117-513CB4BA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009775"/>
            <a:ext cx="222808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0〜5,000円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979DBB-9488-4D27-9CD1-8140F22F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962150"/>
            <a:ext cx="562660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32F8AB-D421-46FC-BCCA-9AA944CF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792" y="2009775"/>
            <a:ext cx="547420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45〜60分相談、簡易ロードマップ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C80825-B1AC-4A28-9EB8-17844B6B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81330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A42649-F0ED-42AC-9505-EFFA7CEE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266090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単発進路相談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A028F9-F9EE-41BF-9A43-6829B613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2647950"/>
            <a:ext cx="238048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86D3B8-5A2C-4857-9200-34A8E8B7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695575"/>
            <a:ext cx="222808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15,000〜30,000円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0FD80A-3984-4BDC-82AA-DC3D77A0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647950"/>
            <a:ext cx="562660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86EFDD-EF1A-4630-A16B-42012C39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792" y="2695575"/>
            <a:ext cx="547420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60〜90分相談、資料確認、方針提案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702E88-2831-4F45-A785-DCDE4727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81330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6569C4-E34F-492F-B7C1-CB9F9D56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66090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月次進路伴走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8AEF86-7D95-48E1-BE96-599054EC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3333750"/>
            <a:ext cx="238048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62615C-6FFF-457E-B181-CC1FD0E5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3381375"/>
            <a:ext cx="222808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月30,000〜50,000円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E483E2-FA8F-4AEA-A2C3-5006789D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333750"/>
            <a:ext cx="562660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0B826B-4021-4511-B05C-066402F2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792" y="3381375"/>
            <a:ext cx="547420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月1回面談、月次レポート、学習計画修正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FF1F85-AF54-4DA4-A594-5AC7E7B1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A"/>
          </a:solidFill>
          <a:ln xmlns:a="http://schemas.openxmlformats.org/drawingml/2006/main" w="9525">
            <a:solidFill>
              <a:srgbClr val="E8C9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41590D-7917-4685-9592-B64D3B19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rPr>
              <a:t>聞くこと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89F2BB-FA03-4999-BBAF-E62FA789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57800"/>
            <a:ext cx="9353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・相談だけで価値を感じますか。ロードマップ込みならどうですか。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・単発相談なら、いくらまでなら検討できますか。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・月額で継続するなら、何が含まれている必要がありますか。</a:t>
            </a:r>
          </a:p>
        </p:txBody>
      </p:sp>
    </p:spTree>
    <p:extLst>
      <p:ext uri="{BB962C8B-B14F-4D97-AF65-F5344CB8AC3E}">
        <p14:creationId xmlns:p14="http://schemas.microsoft.com/office/powerpoint/2010/main" val="1805302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822999-948E-4C0A-B3C2-F166B40F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C69F7-59A3-4A5D-B3C6-0CABE973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EAB95-427E-4A89-BB05-1B5CFEE8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579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CAC0C-3040-47A9-B8A0-1E4B04A7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Red-Link Group | Initial user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E14E5-3AD7-46DB-92C0-AADAB37D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35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352D"/>
                </a:solidFill>
                <a:latin typeface="Aptos"/>
                <a:ea typeface="Aptos"/>
                <a:cs typeface="Aptos"/>
              </a:rPr>
              <a:t>25-35分 | 商品2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6A6A8-2F9F-41A6-97AA-07955413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オンライン個別指導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D224E-DDAE-4F83-A336-E8090C43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1対1授業に加え、保護者向けの進捗報告を行う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7BECF-DF22-4B12-914D-030BDB16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813304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B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D0A76-0FCA-4231-9EC8-67A245E7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266090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プラン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9DC26-76A1-48F8-96C8-346EF2B0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1638300"/>
            <a:ext cx="238048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B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06A3E-ED80-4FB8-A07C-A3B0A221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1704975"/>
            <a:ext cx="22280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価格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1D698-AFD1-4275-AC69-1B24B57A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638300"/>
            <a:ext cx="562660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B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486F9-9C21-4759-94EA-4DD3835C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792" y="1704975"/>
            <a:ext cx="547420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5A1D5-434B-4250-9240-D5BC7FAF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81330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FE1CE2-89C2-442E-83E6-1ED0C559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266090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個別ライト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1E242-60B1-4788-9CB3-767903AF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1962150"/>
            <a:ext cx="238048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5B620-35B7-4657-9DE8-E1D2F7C2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009775"/>
            <a:ext cx="222808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月60,000〜80,000円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C905DF-FB84-4DDF-B777-1CB840F2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962150"/>
            <a:ext cx="562660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B0BC80-F859-47F4-888D-6FE232EC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792" y="2009775"/>
            <a:ext cx="547420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週1回60〜90分、月次報告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09AD2-89B5-4C11-9A58-43D60D20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81330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D703D-60DE-4BF8-BB12-610C5CB3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266090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個別スタンダード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0A7730-922E-45CE-BF66-32F989B6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2647950"/>
            <a:ext cx="238048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35E8C6-B6EA-440F-A968-6C1E611A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695575"/>
            <a:ext cx="222808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月100,000〜150,000円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BE674E-C810-47DC-B184-039F87C5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647950"/>
            <a:ext cx="562660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C321FB-2438-4A1F-90ED-B7F92BB0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792" y="2695575"/>
            <a:ext cx="547420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週1〜2回、学習計画、保護者面談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559CDD-F300-482B-ACEC-CCF921E3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81330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075003-AA92-4EE0-BAF0-7AC25569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66090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個別プレミアム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293704-4E89-4750-8C89-526B15BD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3333750"/>
            <a:ext cx="238048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5585F9-2651-44A1-BFF7-FDCCE3FE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3381375"/>
            <a:ext cx="222808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月180,000〜250,000円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79DBEE-3D07-4996-A523-704B949A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333750"/>
            <a:ext cx="562660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AEBBCC-F39B-4B91-85B9-497C52AE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792" y="3381375"/>
            <a:ext cx="547420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週2回以上、週次管理、直前期対応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EAD93E-7246-4737-BD07-2131BBD1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A"/>
          </a:solidFill>
          <a:ln xmlns:a="http://schemas.openxmlformats.org/drawingml/2006/main" w="9525">
            <a:solidFill>
              <a:srgbClr val="E8C9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1C6BC4-F4BE-46F8-B94B-F9C7E72D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rPr>
              <a:t>聞くこと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BBCE64-A5DF-4A2B-8833-FD0913EE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57800"/>
            <a:ext cx="9353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・通常の家庭教師と比べて、何があれば選びますか。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・保護者レポートや進路設計があることは価値になりますか。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・月60,000〜80,000円の個別ライトは検討できますか。</a:t>
            </a:r>
          </a:p>
        </p:txBody>
      </p:sp>
    </p:spTree>
    <p:extLst>
      <p:ext uri="{BB962C8B-B14F-4D97-AF65-F5344CB8AC3E}">
        <p14:creationId xmlns:p14="http://schemas.microsoft.com/office/powerpoint/2010/main" val="2772418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BD772A-A906-4F48-BE3A-2A627D43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28B10-43B8-402D-A6E4-C65AF4F6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BA94F-9853-4E41-98F3-33ACC08E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579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D0D41-86A1-4EFE-B128-7950AC51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Red-Link Group | Initial user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29CC3-4858-4856-8665-D9FC72C1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35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352D"/>
                </a:solidFill>
                <a:latin typeface="Aptos"/>
                <a:ea typeface="Aptos"/>
                <a:cs typeface="Aptos"/>
              </a:rPr>
              <a:t>25-35分 | 商品3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2D141-C528-44AC-B360-6024C2AB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オンライン集団指導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05718-EA40-4DB7-AE91-F4418986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同じ目標・学力帯の生徒を集めた4〜8人の少人数オンライン授業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4700A-AE82-4D19-85AF-28766291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813304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B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86BE0-46F8-40D6-B0C2-530A9C17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266090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プラン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C8EDA-B7CC-4AF5-9CE7-4463970F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1638300"/>
            <a:ext cx="238048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B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4C431-9643-4925-B1CB-53FF7BF7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1704975"/>
            <a:ext cx="22280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価格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B18C8-3E63-482A-BCB8-907090CE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638300"/>
            <a:ext cx="562660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B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9F4BD-75D5-4115-A9CA-374E6F4A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792" y="1704975"/>
            <a:ext cx="547420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E61FA-1C0B-4178-8FC4-AF2D0A72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81330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8D162-BC1A-434A-A773-07F02B26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266090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少人数集団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889FE-E26E-4F73-85C9-57CD24C5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1962150"/>
            <a:ext cx="238048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BC59B4-95E0-4DA5-9059-C2B08A0E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009775"/>
            <a:ext cx="222808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月35,000〜50,000円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1F088-6447-4B5E-A1DE-1B060162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962150"/>
            <a:ext cx="562660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F59444-C258-4234-98B2-AE24438E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792" y="2009775"/>
            <a:ext cx="547420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週1回90分、確認テストあり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E93EB6-D30C-4490-B30F-92BC6EA1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81330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1E9E02-ED1D-4560-89E1-BDB7D9DE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266090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難関受験演習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741B3F-A05A-4469-B935-D2257B7F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2647950"/>
            <a:ext cx="238048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42E3C-A991-48B1-8948-B8665338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695575"/>
            <a:ext cx="222808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月50,000〜80,000円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455D87-DD26-48BB-A78E-D066AA56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647950"/>
            <a:ext cx="562660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216D00-99DB-4C96-9A3A-AC5480BB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792" y="2695575"/>
            <a:ext cx="547420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週1〜2回、過去問・弱点補強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E71576-620B-4CB9-B3CD-5BD60062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81330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94C68B-C925-4513-A83B-D7E4C9C2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66090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短期講習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9C1858-EFCE-4BB1-A1D6-ABE1F85F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3333750"/>
            <a:ext cx="238048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64B447-5201-439F-885F-044B74C4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3381375"/>
            <a:ext cx="222808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1講座15,000〜30,000円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BD3487-E267-4C3C-935B-BC9F1FEA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333750"/>
            <a:ext cx="562660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92265D-3E96-47AE-B16F-92F42FB3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792" y="3381375"/>
            <a:ext cx="547420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季節講習、テーマ別講座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4BEE51-2895-46F9-84D8-E7F4F3DB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A"/>
          </a:solidFill>
          <a:ln xmlns:a="http://schemas.openxmlformats.org/drawingml/2006/main" w="9525">
            <a:solidFill>
              <a:srgbClr val="E8C9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BFA974-4BDA-4FB4-B018-1F0E43D3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rPr>
              <a:t>聞くこと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E578FC-0423-4729-924D-4081BD5D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57800"/>
            <a:ext cx="9353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・何人までなら少人数として納得できますか。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・個別指導ではなく、集団指導を選ぶ理由はありますか。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・確認テスト、宿題管理、保護者レポートがあると価値は上がりますか。</a:t>
            </a:r>
          </a:p>
        </p:txBody>
      </p:sp>
    </p:spTree>
    <p:extLst>
      <p:ext uri="{BB962C8B-B14F-4D97-AF65-F5344CB8AC3E}">
        <p14:creationId xmlns:p14="http://schemas.microsoft.com/office/powerpoint/2010/main" val="6093917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D69625-3367-4627-836A-E8DF8B08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69034-B64F-4A92-A258-4ED301BA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3B250-4B02-44FF-9226-6505E06C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579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186A4-0AAC-4978-833E-2DA5BDA7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Red-Link Group | Initial user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23408-52B9-4487-85F5-D667F074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35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352D"/>
                </a:solidFill>
                <a:latin typeface="Aptos"/>
                <a:ea typeface="Aptos"/>
                <a:cs typeface="Aptos"/>
              </a:rPr>
              <a:t>25-35分 | 商品4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60358-6D0E-441A-83FF-8DE1B5D5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受験情報コミュニティ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B0CB3-2299-42F1-82FE-426E2F0F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保護者が日本の受験情報を継続的に学べる会員制サービス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20273-B0A2-4BB8-82B2-4B50E860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813304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B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7C16E-D183-4DEE-A692-F9B337A2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266090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プラン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54157-9F37-4C0D-A3B9-F5293A35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1638300"/>
            <a:ext cx="238048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B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2995B-4CC7-47B8-8CF4-10E0B5DC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1704975"/>
            <a:ext cx="22280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価格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1E2AF-2BC0-4690-9582-1FB5DA6E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638300"/>
            <a:ext cx="562660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B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25BB9-D2FB-43AC-A7C9-3FECB55E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792" y="1704975"/>
            <a:ext cx="547420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8321D-DE14-40EA-89C9-8AB17B23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81330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61693-6793-4DC2-8EC5-F5B835AC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266090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無料会員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710AE-1870-4EC6-857D-BFCADD5A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1962150"/>
            <a:ext cx="238048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1E8DCA-0A07-4F19-BAE5-44401C9D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009775"/>
            <a:ext cx="222808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0円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C644D0-7B32-4DAC-A06D-42A16C4D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962150"/>
            <a:ext cx="562660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BC411-C105-4688-8E02-7ECFECCA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792" y="2009775"/>
            <a:ext cx="547420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受験コラム、セミナー告知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687A8D-2904-4AB9-B8D8-D2E23320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81330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6D2015-2074-4277-ABB5-C55A5ADC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266090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ベーシック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1247EA-2605-4DC4-952B-52B94933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2647950"/>
            <a:ext cx="238048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E760E9-24D5-48ED-9952-99143890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695575"/>
            <a:ext cx="222808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月2,980〜5,000円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A48B78-B113-4F01-909D-E5DF2A3A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647950"/>
            <a:ext cx="562660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DF6444-2678-417A-8705-093642C6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792" y="2695575"/>
            <a:ext cx="547420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月1回講座、資料、アーカイブ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DF6A52-4BB6-4B72-9812-AAC010B4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813304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725B08-6BA0-4D49-BB6A-0701614D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66090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プレミアム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F0CDF1-F770-4845-BFA7-FA0FE4C4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3333750"/>
            <a:ext cx="238048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472763-045A-48A7-B7D2-676654C1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3381375"/>
            <a:ext cx="222808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月9,800〜15,000円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B1C3B0-B9E5-411E-B95C-ECE23CD2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333750"/>
            <a:ext cx="562660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92498F-14BA-4473-BF7C-E15D32FC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792" y="3381375"/>
            <a:ext cx="547420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Q&amp;A、限定資料、相談割引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CA74C8-E781-412A-882C-DFE7EB66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A"/>
          </a:solidFill>
          <a:ln xmlns:a="http://schemas.openxmlformats.org/drawingml/2006/main" w="9525">
            <a:solidFill>
              <a:srgbClr val="E8C9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4DD9D3-4CED-4528-A0BC-7C53BBC6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rPr>
              <a:t>聞くこと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FC5DAD-7047-41C0-B367-AB03994B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57800"/>
            <a:ext cx="9353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・チャットグループだけなら払いますか。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・資料・講座・Q&amp;A・アーカイブがあるなら価値を感じますか。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・どんな講座テーマや資料があれば継続しそうですか。</a:t>
            </a:r>
          </a:p>
        </p:txBody>
      </p:sp>
    </p:spTree>
    <p:extLst>
      <p:ext uri="{BB962C8B-B14F-4D97-AF65-F5344CB8AC3E}">
        <p14:creationId xmlns:p14="http://schemas.microsoft.com/office/powerpoint/2010/main" val="14443255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DA92A4-81C7-4C6F-85A0-A4AFCE9A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6A1F9-B16E-4441-AF4D-87178749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67051-6E8A-475A-8E58-0C6D82C2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579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3B209-8514-4963-9EEB-EE99C5C9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Red-Link Group | Initial user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25C7B-3D0B-43CC-8D44-8102AAED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35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352D"/>
                </a:solidFill>
                <a:latin typeface="Aptos"/>
                <a:ea typeface="Aptos"/>
                <a:cs typeface="Aptos"/>
              </a:rPr>
              <a:t>15-25分 | 進路ロードマップ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2953E-23B9-45C2-8023-BAE2AAF5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サンプル進路ロードマップ 想定ケース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00BD4-4D9B-4AAD-81DC-CDFB3245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家庭の現在地と悩みを整理したうえでロードマップを作る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C2410-3FA5-4ED2-8A1E-B009989B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59689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92DC0-551B-4413-AD02-3649BF7B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2444496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項目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12FEC-F64E-40DE-A134-72FE5523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696" y="1428750"/>
            <a:ext cx="8223504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A5BE8-DFBA-4911-9DE3-9D5A2E43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896" y="1495425"/>
            <a:ext cx="807110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内容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9E790-265B-4FD2-8D97-D9AAF871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596896" cy="45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A1169-1863-4E6C-BA0A-0D4ED9C2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0225"/>
            <a:ext cx="2444496" cy="37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学年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D8CE1-C9E4-44E7-AB6E-82019B8C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696" y="1752600"/>
            <a:ext cx="8223504" cy="45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EAABC-7581-46F9-A7D0-74A14755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896" y="1800225"/>
            <a:ext cx="8071104" cy="37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中学1年生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D1C9FC-7B65-43BA-8AE7-6E34C92B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6625"/>
            <a:ext cx="2596896" cy="45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5BBE39-A0FA-4A4B-AF96-73A7DAFB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4250"/>
            <a:ext cx="2444496" cy="37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目標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8D3A86-E052-4B34-B37B-2C7B131D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696" y="2206625"/>
            <a:ext cx="8223504" cy="45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0800F5-7967-4BC0-A4CF-9F73D79B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896" y="2254250"/>
            <a:ext cx="8071104" cy="37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首都圏の難関高校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A6BB64-7438-4843-9260-BA012614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0650"/>
            <a:ext cx="2596896" cy="45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BE39A-6A5C-435A-986C-04253FD1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8275"/>
            <a:ext cx="2444496" cy="37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現在の状況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1304DE-FB37-4B68-92AE-5806298E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696" y="2660650"/>
            <a:ext cx="8223504" cy="45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49621E-64E1-4AED-9B93-A0487ADF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896" y="2708275"/>
            <a:ext cx="8071104" cy="37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学校成績は上位、受験塾は未通塾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2AF6D5-3D49-4188-814E-790A55EE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2596896" cy="45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8BD1E0-B989-49F2-8E11-E5C4B48E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444496" cy="37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得意科目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DFE92C-30CD-4151-9532-46EC8FDB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696" y="3114675"/>
            <a:ext cx="8223504" cy="45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44B85D-D18B-45F2-A183-04DACF4A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896" y="3162300"/>
            <a:ext cx="8071104" cy="37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数学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6613E7-B1E6-4E1F-9FDE-8CF4F99A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8700"/>
            <a:ext cx="2596896" cy="45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C68BA1-A0E6-4AC4-AFEB-10A55838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6325"/>
            <a:ext cx="2444496" cy="37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課題科目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787EF1-6470-46DD-B7CA-14D5A10A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696" y="3568700"/>
            <a:ext cx="8223504" cy="45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0A5594-7173-49EC-A2B0-16EDB4CC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896" y="3616325"/>
            <a:ext cx="8071104" cy="37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英語、国語の読解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C3CB04-A53A-4986-8F58-0DA1FF76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2725"/>
            <a:ext cx="2596896" cy="45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3E36AD-13DF-4844-AA6E-5C993A91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0350"/>
            <a:ext cx="2444496" cy="37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保護者の悩み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273F41-99B8-4234-858D-E81407D3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696" y="4022725"/>
            <a:ext cx="8223504" cy="45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E029D4-8198-4A55-AE12-02F10FD9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896" y="4070350"/>
            <a:ext cx="8071104" cy="37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いつから塾に入るべきか、内申と受験勉強の両立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1DCC3B-EA92-40BA-82B6-D7338CEF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A"/>
          </a:solidFill>
          <a:ln xmlns:a="http://schemas.openxmlformats.org/drawingml/2006/main" w="9525">
            <a:solidFill>
              <a:srgbClr val="E8C9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171A73-45AF-4DFB-9DD9-D76BCDD4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rPr>
              <a:t>聞くこと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2ED45E-5D7F-4DB6-8631-B0B46CB3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57800"/>
            <a:ext cx="9353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・この前提は現実的に感じますか。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・ご家庭の状況と近い部分はありますか。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・進路ロードマップを作るなら、最初にどんな情報を伝えたいですか。</a:t>
            </a:r>
          </a:p>
        </p:txBody>
      </p:sp>
    </p:spTree>
    <p:extLst>
      <p:ext uri="{BB962C8B-B14F-4D97-AF65-F5344CB8AC3E}">
        <p14:creationId xmlns:p14="http://schemas.microsoft.com/office/powerpoint/2010/main" val="30544710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6F78EA-A0F4-42AF-9DAB-FAB1CB65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71F3D-3697-48AE-897C-E1B2EC5D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FF1A6-9784-4E8A-9B71-F975BB8D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579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78E2A-2F2B-4657-AB7A-151D700C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Red-Link Group | Initial user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C142E-E6D0-4C75-9928-AE4ADE01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35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352D"/>
                </a:solidFill>
                <a:latin typeface="Aptos"/>
                <a:ea typeface="Aptos"/>
                <a:cs typeface="Aptos"/>
              </a:rPr>
              <a:t>15-25分 | 現在地整理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A0F62-02DB-46A0-ADCC-46644D62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サンプル進路ロードマップ 現在地の整理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7172D-528E-4EEF-801D-4302637C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強みと課題が、家庭の意思決定に使えるかを確認する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51C23-5891-4C12-A6F2-BDC68D57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2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92978-2ED7-432B-B6FC-69DF216F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E6B56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E6B56"/>
                </a:solidFill>
                <a:latin typeface="Yu Gothic"/>
                <a:ea typeface="Yu Gothic"/>
                <a:cs typeface="Yu Gothic"/>
              </a:rPr>
              <a:t>強み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99840-C790-402D-B67C-CB7FF71A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48006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数学への抵抗が少なく、先取り学習に向いている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学校成績が安定しており、内申を取りやすい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まだ中1のため、受験までの準備時間がある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7EE8C-DE1F-4F0A-ABDD-470C3971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5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B5EA1-DD7D-4DB1-A1AB-5E924314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62100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772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A87724"/>
                </a:solidFill>
                <a:latin typeface="Yu Gothic"/>
                <a:ea typeface="Yu Gothic"/>
                <a:cs typeface="Yu Gothic"/>
              </a:rPr>
              <a:t>課題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45E5F-4D9B-4A1C-91A3-3D93A8B4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85950"/>
            <a:ext cx="48006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高校受験の全体像を家庭が把握できていない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英語の単語・文法・長文読解の積み上げが不足しやすい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国語読解は後回しになりやすい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模試を受けていないため、学校外での位置がわからない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F641A-5BE0-4112-B557-836202D5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A"/>
          </a:solidFill>
          <a:ln xmlns:a="http://schemas.openxmlformats.org/drawingml/2006/main" w="9525">
            <a:solidFill>
              <a:srgbClr val="E8C9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EA89F7-C66D-43B8-B621-FFF98233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rPr>
              <a:t>聞くこと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9A557-3250-461D-890E-C4B0B3D2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57800"/>
            <a:ext cx="9353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・このような整理は、保護者として役に立ちそうですか。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・自分の子ども用にも欲しいですか。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・強み・課題の整理で、他に欲しい情報はありますか。</a:t>
            </a:r>
          </a:p>
        </p:txBody>
      </p:sp>
    </p:spTree>
    <p:extLst>
      <p:ext uri="{BB962C8B-B14F-4D97-AF65-F5344CB8AC3E}">
        <p14:creationId xmlns:p14="http://schemas.microsoft.com/office/powerpoint/2010/main" val="16938788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CFCAF3-B4FB-4480-8996-BE1DFB48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182DC-BFB9-4AB8-BA0E-89B6EF70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DD9BA-F563-40D8-9D03-36843450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579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A01AF-43CF-40AD-B6D0-8B94435F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Red-Link Group | Initial user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1E82D-2B7A-4554-A3B1-8158C061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35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352D"/>
                </a:solidFill>
                <a:latin typeface="Aptos"/>
                <a:ea typeface="Aptos"/>
                <a:cs typeface="Aptos"/>
              </a:rPr>
              <a:t>15-25分 | 今後やること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5C894-1D8C-4977-B918-07D3C31B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サンプル進路ロードマップ 今後やること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AE90F-DE40-490A-90D3-2EA8F81B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時間軸で示すことで、保護者が次の行動を判断できるかを見る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9F551-EB5E-466C-AB6F-D6DB6FE6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238048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6AABD-40EE-4B6F-8A4A-8BD889AD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2280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時期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37996-4AF4-4C1E-93DB-ECB7007B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1314450"/>
            <a:ext cx="843991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13D40-755E-48AA-83FD-08F7D048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1381125"/>
            <a:ext cx="828751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やること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F52DE-94E7-4E8E-9FA8-F07CF7FD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380488" cy="473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1A61F-7D74-4D73-9C85-293EF06B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"/>
            <a:ext cx="2228088" cy="3973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6ヶ月以内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4415F-879B-4205-8059-F319D3D3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1638300"/>
            <a:ext cx="8439912" cy="473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D35F6-0708-4F4D-AF68-C06FC8D2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1685925"/>
            <a:ext cx="8287512" cy="3973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高校受験の仕組み、内申、模試、併願制度を理解する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94506-889A-4479-98FF-3C4D09B5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1829"/>
            <a:ext cx="2380488" cy="473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1605D-CEDE-475A-8C52-5BEC3A8E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454"/>
            <a:ext cx="2228088" cy="3973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6ヶ月以内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6EDE38-5A99-4224-A037-F3A67EA3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2111829"/>
            <a:ext cx="8439912" cy="473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D496AE-4E36-4CC0-A983-38FF5FE8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2159454"/>
            <a:ext cx="8287512" cy="3973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数学は中1範囲を固め、中2範囲の先取りを始める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E8E57-6138-4F1D-B9C3-71D8B0A6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5357"/>
            <a:ext cx="2380488" cy="473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51FE47-7602-47AC-BF76-3B69B748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2982"/>
            <a:ext cx="2228088" cy="3973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6ヶ月以内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1AF388-0CD1-4FCD-A0C9-6A5F170D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2585357"/>
            <a:ext cx="8439912" cy="473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F497F7-4248-4E3F-AEB8-D105A783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2632982"/>
            <a:ext cx="8287512" cy="3973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英語は文法と単語を毎週管理する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ABF9FA-236C-494D-BDB0-F8AA0512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8886"/>
            <a:ext cx="2380488" cy="473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93014D-8D62-467B-8459-6E729F51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6511"/>
            <a:ext cx="2228088" cy="3973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1年以内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EBD594-A364-4674-A076-A386DC8D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3058886"/>
            <a:ext cx="8439912" cy="473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E6B906-968A-4F82-87A4-1B893EB3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3106511"/>
            <a:ext cx="8287512" cy="3973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志望校を目標校・現実校・安全校に分けて整理する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D54C59-9FD5-4FFD-82CA-094FDAE7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2414"/>
            <a:ext cx="2380488" cy="473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6A76B5-B7A4-4149-8AB8-7D0E4C39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0039"/>
            <a:ext cx="2228088" cy="3973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1年以内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E56025-9B8D-41BE-888D-B6A5499E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3532414"/>
            <a:ext cx="8439912" cy="473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23E490-5D0F-4514-B418-BAA64AE5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3580039"/>
            <a:ext cx="8287512" cy="3973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英語長文、英作文、国語読解を入試形式へ接続する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3158CC-4FC8-40A1-A715-A28442A9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5943"/>
            <a:ext cx="2380488" cy="473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1CF213-0D94-48A3-9D15-33B528DF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3568"/>
            <a:ext cx="2228088" cy="3973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中3前半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F7367A-4B57-485C-9610-D09964AD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4005943"/>
            <a:ext cx="8439912" cy="473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5AAB17-89C7-4135-8DD7-BFEF4C0D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4053568"/>
            <a:ext cx="8287512" cy="3973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第一志望と併願候補を仮決定し、模試を定期的に受ける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C0AB1B-54CF-4FEE-9353-9DBB630C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9471"/>
            <a:ext cx="2380488" cy="473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B2114C-BAD4-445B-8ABF-9EE6835C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7096"/>
            <a:ext cx="2228088" cy="3973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中3後半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04B571-D4C7-431E-9275-6A87F4C9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4479471"/>
            <a:ext cx="8439912" cy="473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11C16B-6231-4234-8CE1-FE0F425F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4527096"/>
            <a:ext cx="8287512" cy="3973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過去問、弱点補強、出願校確定を進める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FB03D8-09D5-4A3D-B926-2476D736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A"/>
          </a:solidFill>
          <a:ln xmlns:a="http://schemas.openxmlformats.org/drawingml/2006/main" w="9525">
            <a:solidFill>
              <a:srgbClr val="E8C9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099193-5607-493D-A91A-4F3D24CC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rPr>
              <a:t>聞くこと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42FC49-46B9-4E6A-B265-9D401F4D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57800"/>
            <a:ext cx="9353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・どの情報が一番役に立ちそうですか。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・逆に、不要・わかりにくい情報はありますか。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・これを作ってもらうために、単発でいくらまでなら払えそうですか。</a:t>
            </a:r>
          </a:p>
        </p:txBody>
      </p:sp>
    </p:spTree>
    <p:extLst>
      <p:ext uri="{BB962C8B-B14F-4D97-AF65-F5344CB8AC3E}">
        <p14:creationId xmlns:p14="http://schemas.microsoft.com/office/powerpoint/2010/main" val="13433958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FB826D-C619-4577-BA46-BF496448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4FD67-F8B4-4FFC-A1B7-A0A9974F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3F3D9-373A-4D34-980F-87F3D0BD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579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3F68C-E89C-4185-8A04-FBECCD0F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Red-Link Group | Initial user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AE810-E4E3-4AB6-9570-0F5A16AC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35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352D"/>
                </a:solidFill>
                <a:latin typeface="Aptos"/>
                <a:ea typeface="Aptos"/>
                <a:cs typeface="Aptos"/>
              </a:rPr>
              <a:t>25-35分 | 価格感度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9D414-77A3-4A61-B7A4-1A571821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価格感度確認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E67F1-CBB2-4C4C-9445-7CB46DC9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高い・安いだけでなく、納得条件まで確認する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C90A0-92AB-41F4-B040-97D70D14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813304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7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CC7D9-7A6E-4FBE-88A6-FE700A45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266090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商品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F960A-6AE7-408E-AA55-9F5A0F26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1428750"/>
            <a:ext cx="194767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7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54E5C-0A8F-469B-957C-5EE27A33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1495425"/>
            <a:ext cx="179527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高すぎる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E0D63-30DC-4CA9-B7CB-25392E73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776" y="1428750"/>
            <a:ext cx="21640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7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EA112-7139-4FA7-BD74-1B22CBD3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1495425"/>
            <a:ext cx="20116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検討できる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FA910-4569-4879-AFBF-FC3DEC0E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856" y="1428750"/>
            <a:ext cx="194767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7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572AC-97AE-4840-B597-E55977E8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056" y="1495425"/>
            <a:ext cx="179527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お得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C4C7A-2728-4041-81D3-0CB3FD1E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528" y="1428750"/>
            <a:ext cx="1947672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7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EFF570-775D-4E22-AC54-F51D4018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728" y="1495425"/>
            <a:ext cx="179527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安すぎて不安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B32DB8-F8CE-46ED-A581-6F1A1C98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813304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53E66D-C60D-43EE-95DD-76411CC5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0225"/>
            <a:ext cx="2660904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単発進路相談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7E4439-2BDA-4D87-8C3A-BBF7A2D9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1752600"/>
            <a:ext cx="1947672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C76380-BF8A-4A5E-A129-FB3FC3D8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1800225"/>
            <a:ext cx="1795272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CDB0E3-7851-4DCE-90A5-E4FC5089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776" y="1752600"/>
            <a:ext cx="2164080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35322F-4206-4D8A-9A48-5D9E640D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1800225"/>
            <a:ext cx="2011680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D7ADB-B56C-4A12-9499-9DF531AD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856" y="1752600"/>
            <a:ext cx="1947672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348A7F-CD73-42D4-9F06-F2F4A2D0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056" y="1800225"/>
            <a:ext cx="1795272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9A44C4-56DF-46CC-A414-0AC00F75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528" y="1752600"/>
            <a:ext cx="1947672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8864B6-5817-4272-830B-AFE4DF8E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728" y="1800225"/>
            <a:ext cx="1795272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3DC4AE-84AD-4CC9-A5CA-E1F77DEE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9330"/>
            <a:ext cx="2813304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69124F-3D67-455D-AE1E-6563C846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6955"/>
            <a:ext cx="2660904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月次進路伴走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8D21DA-67F8-41C2-91D4-45A9EC69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2259330"/>
            <a:ext cx="1947672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D1C6DE-F97D-452E-8DF3-55CA2818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306955"/>
            <a:ext cx="1795272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12CC71-7CBF-44F4-B63D-E6A04D22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776" y="2259330"/>
            <a:ext cx="2164080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32B298-26AB-463A-852D-B03DAFA9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2306955"/>
            <a:ext cx="2011680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EF487B-9E62-4926-AA5D-D9A6F33F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856" y="2259330"/>
            <a:ext cx="1947672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07F500-D712-4E2A-8630-163C5762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056" y="2306955"/>
            <a:ext cx="1795272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E6CB98-D314-4D54-8688-C1D6B38A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528" y="2259330"/>
            <a:ext cx="1947672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04E523-5C0E-4EE9-8EDF-7A69B1CE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728" y="2306955"/>
            <a:ext cx="1795272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E91C3C-7101-4F70-882A-7910BD50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6060"/>
            <a:ext cx="2813304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29E427-D17A-4B3C-9B5C-309367C2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3685"/>
            <a:ext cx="2660904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個別指導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5913FD-E100-406D-8D28-A915EB53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2766060"/>
            <a:ext cx="1947672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035AF2-3C8C-4B0E-A0D7-6710FA2B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813685"/>
            <a:ext cx="1795272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4064D0-3325-4ABB-BAB4-57364AB7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776" y="2766060"/>
            <a:ext cx="2164080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02B442-1683-4B5D-BA46-D9D31140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2813685"/>
            <a:ext cx="2011680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33C3F0-F03A-4672-9887-BCA2EB3C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856" y="2766060"/>
            <a:ext cx="1947672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2135D0-5340-47AF-A719-61383186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056" y="2813685"/>
            <a:ext cx="1795272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91FF66-39AC-4C8C-B605-48F18E7C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528" y="2766060"/>
            <a:ext cx="1947672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7E4446-F087-4411-8DCD-B818E770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728" y="2813685"/>
            <a:ext cx="1795272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9785DC-6910-4387-8CBF-B3B2D1F6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2790"/>
            <a:ext cx="2813304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C5B805-19A1-4E58-A1DC-5FFB134B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0415"/>
            <a:ext cx="2660904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集団指導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7BCDDB-55B8-4873-B607-17825D18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3272790"/>
            <a:ext cx="1947672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B624D5-AF1E-48AA-A751-D99218EB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3320415"/>
            <a:ext cx="1795272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70279F-1F67-4809-819B-BA6264D6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776" y="3272790"/>
            <a:ext cx="2164080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642966-A5EF-4DEC-A0E1-904CE1E3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3320415"/>
            <a:ext cx="2011680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6D3656-0B85-423E-A448-0C9BEC8E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856" y="3272790"/>
            <a:ext cx="1947672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95ADB66-3A39-49DF-8664-9E8F253F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056" y="3320415"/>
            <a:ext cx="1795272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E27042-3403-4CE5-B5C6-1C088944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528" y="3272790"/>
            <a:ext cx="1947672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7C1B664-C4D2-46A7-8C02-A0F4C41A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728" y="3320415"/>
            <a:ext cx="1795272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89A9280-6F43-42F3-AD3F-EF291066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9520"/>
            <a:ext cx="2813304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68E8AA-8858-47A1-80A8-0566184C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7145"/>
            <a:ext cx="2660904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コミュニティ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A32958B-C4C6-4671-AD56-085DE5A1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04" y="3779520"/>
            <a:ext cx="1947672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E7A8633-D896-4851-83EF-312BED4E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3827145"/>
            <a:ext cx="1795272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E53EFCA-BEBA-4BBB-8460-E977713E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776" y="3779520"/>
            <a:ext cx="2164080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46FCEA1-691B-418C-84F5-A1C73884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3827145"/>
            <a:ext cx="2011680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5056A19-70BF-41CB-B729-B223B04B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856" y="3779520"/>
            <a:ext cx="1947672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C9C25C6-197B-4670-A27B-2DE1160D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056" y="3827145"/>
            <a:ext cx="1795272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75A3229-D4B2-4206-9127-EB17DD61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528" y="3779520"/>
            <a:ext cx="1947672" cy="506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E32E10E-3B9F-4200-95F4-ECD02597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728" y="3827145"/>
            <a:ext cx="1795272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0B90A9A-098B-4B7B-BCB0-21F362F7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A"/>
          </a:solidFill>
          <a:ln xmlns:a="http://schemas.openxmlformats.org/drawingml/2006/main" w="9525">
            <a:solidFill>
              <a:srgbClr val="E8C9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BC3BD97-5148-461C-BD95-7C9BF10D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rPr>
              <a:t>聞くこと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9A8E7C0-8B4D-47BB-809A-8DECE3E4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57800"/>
            <a:ext cx="9353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・この価格なら検討できる、というラインはどこですか。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・価格に納得するために、何が含まれている必要がありますか。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・オンライン授業の場合、対面より安くないと難しいですか。</a:t>
            </a:r>
          </a:p>
        </p:txBody>
      </p:sp>
    </p:spTree>
    <p:extLst>
      <p:ext uri="{BB962C8B-B14F-4D97-AF65-F5344CB8AC3E}">
        <p14:creationId xmlns:p14="http://schemas.microsoft.com/office/powerpoint/2010/main" val="68149440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148E5E-6226-4E5A-832E-DE79A07D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F7B35-93DC-4BA8-8F99-59846067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5A942-3E54-4907-8E71-CCC3184B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579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5A2AC-DB13-4B17-B262-5DC67F3D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Red-Link Group | Initial user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4B745-26D7-4A62-A71A-F7740931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35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352D"/>
                </a:solidFill>
                <a:latin typeface="Aptos"/>
                <a:ea typeface="Aptos"/>
                <a:cs typeface="Aptos"/>
              </a:rPr>
              <a:t>35-42分 | 置き換え評価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42A44-BF15-4395-9E4C-A3D1BDEA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在日中国人家庭に置き換えた評価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93077-12E7-49FE-8901-D585F665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日本語で受験情報を取りにくい家庭なら価値が上がるかを聞く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1F454-1B46-48A2-8595-B912FAFA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A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91B6E-F32F-4554-8F70-E68AE91E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352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B7352D"/>
                </a:solidFill>
                <a:latin typeface="Yu Gothic"/>
                <a:ea typeface="Yu Gothic"/>
                <a:cs typeface="Yu Gothic"/>
              </a:rPr>
              <a:t>想定している価値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BE218-C61C-4BDC-A9EE-D3BF55B0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48006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中国語で受験制度を説明してもらえる</a:t>
            </a:r>
          </a:p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中国語で進路相談ができる</a:t>
            </a:r>
          </a:p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中国語で月次レポートや学習状況を受け取れる</a:t>
            </a:r>
          </a:p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日本の塾・学校からの情報を家庭で理解しやすくなる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68AAA-3590-48FD-8A79-C81C4449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50CE3-2E35-4837-B4F9-BAC9992C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62100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556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8556F"/>
                </a:solidFill>
                <a:latin typeface="Yu Gothic"/>
                <a:ea typeface="Yu Gothic"/>
                <a:cs typeface="Yu Gothic"/>
              </a:rPr>
              <a:t>授業と言語の分担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95A21-675B-4AA7-8A08-6E95DA56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85950"/>
            <a:ext cx="48006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子どもは日本語で授業を受ける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保護者は中国語で状況を把握する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受験制度・学習方針・月次報告を母語で理解する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5A849-9B06-45D6-AFED-B44E9821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A"/>
          </a:solidFill>
          <a:ln xmlns:a="http://schemas.openxmlformats.org/drawingml/2006/main" w="9525">
            <a:solidFill>
              <a:srgbClr val="E8C9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102C7-BCEF-4987-80E1-4370D2EA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B7352D"/>
                </a:solidFill>
                <a:latin typeface="Yu Gothic"/>
                <a:ea typeface="Yu Gothic"/>
                <a:cs typeface="Yu Gothic"/>
              </a:rPr>
              <a:t>聞くこと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5E01D-187C-4F09-9369-536602F8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57800"/>
            <a:ext cx="9353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・日本語で受験情報を取りにくい家庭なら、このサービスの価値は上がると思いますか。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・中国語での保護者説明・月次レポートは、価格に影響すると思いますか。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・日本人家庭には不要だが、在日中国人家庭には必要そうな要素はありますか。</a:t>
            </a:r>
          </a:p>
        </p:txBody>
      </p:sp>
    </p:spTree>
    <p:extLst>
      <p:ext uri="{BB962C8B-B14F-4D97-AF65-F5344CB8AC3E}">
        <p14:creationId xmlns:p14="http://schemas.microsoft.com/office/powerpoint/2010/main" val="204874206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8303C2-1DC1-4412-8A8C-C486434A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5B7E6-0C71-482C-949C-055DA0EE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FBBD9-ED2C-453C-A363-599021AB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579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CE2D4-5F43-4330-BE4C-78722961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Red-Link Group | Initial user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F50EF-D1C0-4DF7-9607-2D07AFE9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35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352D"/>
                </a:solidFill>
                <a:latin typeface="Aptos"/>
                <a:ea typeface="Aptos"/>
                <a:cs typeface="Aptos"/>
              </a:rPr>
              <a:t>42-45分 | 最後の確認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0C24E-BA4C-4758-A9D0-C5D76FD8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最後の確認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50BAE-511D-4D01-863F-A593B818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実際の利用可能性と次アクションを確認する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0BB9C-2CF9-4607-B3C3-80997A30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68EB1-D53B-4A29-B749-0180BCB2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556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8556F"/>
                </a:solidFill>
                <a:latin typeface="Yu Gothic"/>
                <a:ea typeface="Yu Gothic"/>
                <a:cs typeface="Yu Gothic"/>
              </a:rPr>
              <a:t>最後に確認すること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586C5-516F-471B-B209-AEDA35A5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48006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実際にあったら、ご自身の家庭で使う可能性はありますか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使うなら、最初に申し込むのはどの商品ですか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知人に紹介できそうですか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有料相談前に、事前に何がわかっている必要がありますか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63284-C083-4D83-91C3-5E23594F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9525">
            <a:solidFill>
              <a:srgbClr val="D8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7F5E7-AD5F-47C7-8332-86C9701C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62100"/>
            <a:ext cx="487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E6B56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E6B56"/>
                </a:solidFill>
                <a:latin typeface="Yu Gothic"/>
                <a:ea typeface="Yu Gothic"/>
                <a:cs typeface="Yu Gothic"/>
              </a:rPr>
              <a:t>終了後に記録すること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6B597-F2CC-4151-9E8D-302A2A1E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85950"/>
            <a:ext cx="48006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最も反応が強かった商品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最も伝わらなかった商品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価格で表情が変わった箇所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オンライン授業で最も強かった不安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必須に近いと感じた機能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• 在日中国人家庭向けの説得力</a:t>
            </a:r>
          </a:p>
        </p:txBody>
      </p:sp>
    </p:spTree>
    <p:extLst>
      <p:ext uri="{BB962C8B-B14F-4D97-AF65-F5344CB8AC3E}">
        <p14:creationId xmlns:p14="http://schemas.microsoft.com/office/powerpoint/2010/main" val="350990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2026-05-15T14:11:07.9420000Z</dcterms:created>
  <dcterms:modified xsi:type="dcterms:W3CDTF">2026-05-15T14:11:07.9420000Z</dcterms:modified>
</coreProperties>
</file>